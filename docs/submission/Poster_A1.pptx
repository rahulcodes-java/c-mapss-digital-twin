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384000" cy="30276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384000" cy="30276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20000" y="720000"/>
            <a:ext cx="19944000" cy="396000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0" rIns="540000" tIns="288000" bIns="288000"/>
          <a:lstStyle/>
          <a:p>
            <a:pPr algn="ctr"/>
            <a:r>
              <a:rPr sz="9600" b="1">
                <a:solidFill>
                  <a:srgbClr val="F8FAFC"/>
                </a:solidFill>
                <a:latin typeface="Arial"/>
              </a:rPr>
              <a:t>Interpretable Turbofan Degradation &amp; Health Monitoring</a:t>
            </a:r>
          </a:p>
          <a:p>
            <a:pPr algn="ctr"/>
            <a:r>
              <a:rPr sz="4400" b="1">
                <a:solidFill>
                  <a:srgbClr val="38BDF8"/>
                </a:solidFill>
                <a:latin typeface="Arial"/>
              </a:rPr>
              <a:t>NASA C-MAPSS Digital Twin | Multi-Task Classification, RUL Regression &amp; TreeSHAP Attribution</a:t>
            </a:r>
          </a:p>
          <a:p>
            <a:pPr algn="ctr"/>
            <a:r>
              <a:rPr sz="3200">
                <a:solidFill>
                  <a:srgbClr val="CBD5E1"/>
                </a:solidFill>
                <a:latin typeface="Arial"/>
              </a:rPr>
              <a:t>Rahul Bansode, Shubham Vaidya, Gaurav Yadav, Mufeed Rajapkar  |  TODO_DEPARTMENT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0000" y="5040000"/>
            <a:ext cx="6360120" cy="3528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20000" y="5040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1. OPERATIONAL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6000" y="5904000"/>
            <a:ext cx="592812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>
                <a:solidFill>
                  <a:srgbClr val="CBD5E1"/>
                </a:solidFill>
                <a:latin typeface="Arial"/>
              </a:rPr>
              <a:t>Turbofan rotating components undergo continuous thermal and mechanical wear. Line maintenance requires discrete health triage before structural failure occurs. Scalar RUL predictions alone lack engineering root-cause explainability for line shop dispatch.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8856000"/>
            <a:ext cx="6360120" cy="439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0000" y="8856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2. 3-STAGE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9720000"/>
            <a:ext cx="5928120" cy="33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600" b="1">
                <a:solidFill>
                  <a:srgbClr val="38BDF8"/>
                </a:solidFill>
                <a:latin typeface="Arial"/>
              </a:rPr>
              <a:t>Healthy (Stage 0):</a:t>
            </a:r>
            <a:r>
              <a:rPr sz="2400">
                <a:solidFill>
                  <a:srgbClr val="CBD5E1"/>
                </a:solidFill>
                <a:latin typeface="Arial"/>
              </a:rPr>
              <a:t> RUL &gt; 100 cycles
Normal baseline operation; no maintenance intervention.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BBF24"/>
                </a:solidFill>
                <a:latin typeface="Arial"/>
              </a:rPr>
              <a:t>Degrading (Stage 1):</a:t>
            </a:r>
            <a:r>
              <a:rPr sz="2400">
                <a:solidFill>
                  <a:srgbClr val="CBD5E1"/>
                </a:solidFill>
                <a:latin typeface="Arial"/>
              </a:rPr>
              <a:t> 30 &lt; RUL &lt;= 100 cycles
Active thermodynamic drift; schedule depot borescope inspection.</a:t>
            </a:r>
          </a:p>
          <a:p>
            <a:pPr>
              <a:spcAft>
                <a:spcPts val="400"/>
              </a:spcAft>
            </a:pPr>
            <a:r>
              <a:rPr sz="2600" b="1">
                <a:solidFill>
                  <a:srgbClr val="F87171"/>
                </a:solidFill>
                <a:latin typeface="Arial"/>
              </a:rPr>
              <a:t>Critical (Stage 2):</a:t>
            </a:r>
            <a:r>
              <a:rPr sz="2400">
                <a:solidFill>
                  <a:srgbClr val="CBD5E1"/>
                </a:solidFill>
                <a:latin typeface="Arial"/>
              </a:rPr>
              <a:t> RUL &lt;= 30 cycles
Immediate risk; aircraft grounding &amp; engine overhaul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13536000"/>
            <a:ext cx="6360120" cy="3600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20000" y="13536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3. TELEMETRY &amp; STATIONS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6000" y="14400000"/>
            <a:ext cx="5928120" cy="25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CBD5E1"/>
                </a:solidFill>
                <a:latin typeface="Arial"/>
              </a:rPr>
              <a:t>• All 21 telemetry channels preserved (no arbitrary pruning).
• Flat sensor analysis (CV &lt; 1e-4): 9 flat in FD001, 7 in FD003, and 0 in FD002/FD004.
• Stations: Fan/Inlet, LPC, HPC (core), Combustor, HPT, LPT, and Pressure Ratio (epr).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17424000"/>
            <a:ext cx="6360120" cy="1231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20000" y="17424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4. PROCESSING PIPELINE</a:t>
            </a:r>
          </a:p>
        </p:txBody>
      </p:sp>
      <p:pic>
        <p:nvPicPr>
          <p:cNvPr id="15" name="Picture 14" descr="pipeline_diagram_poster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00" y="18432000"/>
            <a:ext cx="5784120" cy="9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6000" y="28044000"/>
            <a:ext cx="592812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1">
                <a:solidFill>
                  <a:srgbClr val="94A3B8"/>
                </a:solidFill>
                <a:latin typeface="Arial"/>
              </a:rPr>
              <a:t>Fig. 1. Dual-path architecture: single-cycle Random Forest snapshot classification and 50-cycle LSTM temporal window regression.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12120" y="5040000"/>
            <a:ext cx="6360120" cy="259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12120" y="5040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5. KEY EMPIRICAL FINDINGS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28120" y="5904000"/>
            <a:ext cx="1880040" cy="158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0"/>
          <a:lstStyle/>
          <a:p>
            <a:pPr algn="ctr"/>
            <a:r>
              <a:rPr sz="3600" b="1">
                <a:solidFill>
                  <a:srgbClr val="F8FAFC"/>
                </a:solidFill>
                <a:latin typeface="Arial"/>
              </a:rPr>
              <a:t>0.8197</a:t>
            </a:r>
          </a:p>
          <a:p>
            <a:pPr algn="ctr"/>
            <a:r>
              <a:rPr sz="2200">
                <a:solidFill>
                  <a:srgbClr val="94A3B8"/>
                </a:solidFill>
                <a:latin typeface="Arial"/>
              </a:rPr>
              <a:t>LSTM 3-Stage
Macro-F1 (vs 0.730 RF)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752160" y="5904000"/>
            <a:ext cx="1880040" cy="158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0"/>
          <a:lstStyle/>
          <a:p>
            <a:pPr algn="ctr"/>
            <a:r>
              <a:rPr sz="3600" b="1">
                <a:solidFill>
                  <a:srgbClr val="F8FAFC"/>
                </a:solidFill>
                <a:latin typeface="Arial"/>
              </a:rPr>
              <a:t>+21.0 Cyc</a:t>
            </a:r>
          </a:p>
          <a:p>
            <a:pPr algn="ctr"/>
            <a:r>
              <a:rPr sz="2200">
                <a:solidFill>
                  <a:srgbClr val="94A3B8"/>
                </a:solidFill>
                <a:latin typeface="Arial"/>
              </a:rPr>
              <a:t>Median Lead-Time
Advantage (80% Eng)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776200" y="5904000"/>
            <a:ext cx="1880040" cy="1584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2000"/>
          <a:lstStyle/>
          <a:p>
            <a:pPr algn="ctr"/>
            <a:r>
              <a:rPr sz="3600" b="1">
                <a:solidFill>
                  <a:srgbClr val="F8FAFC"/>
                </a:solidFill>
                <a:latin typeface="Arial"/>
              </a:rPr>
              <a:t>49.18%</a:t>
            </a:r>
          </a:p>
          <a:p>
            <a:pPr algn="ctr"/>
            <a:r>
              <a:rPr sz="2200">
                <a:solidFill>
                  <a:srgbClr val="94A3B8"/>
                </a:solidFill>
                <a:latin typeface="Arial"/>
              </a:rPr>
              <a:t>HPC Subassembly
SHAP Attribution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12120" y="7920000"/>
            <a:ext cx="6360120" cy="5760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512120" y="7920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6. CRITICAL STAGE DETECTION</a:t>
            </a:r>
          </a:p>
        </p:txBody>
      </p:sp>
      <p:pic>
        <p:nvPicPr>
          <p:cNvPr id="24" name="Picture 23" descr="critical_f1_comparison_poster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120" y="8856000"/>
            <a:ext cx="5784120" cy="3672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28120" y="12672000"/>
            <a:ext cx="5928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1">
                <a:solidFill>
                  <a:srgbClr val="94A3B8"/>
                </a:solidFill>
                <a:latin typeface="Arial"/>
              </a:rPr>
              <a:t>Fig. 2. Critical degradation class (RUL &lt;= 30) F1 score comparison across benchmark sub-datasets.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12120" y="13968000"/>
            <a:ext cx="6360120" cy="4608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512120" y="13968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7. RUL REGRESSION PERFORMANCE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7728120" y="14904000"/>
          <a:ext cx="5904000" cy="33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8000"/>
                <a:gridCol w="1008000"/>
                <a:gridCol w="1296000"/>
                <a:gridCol w="1224000"/>
                <a:gridCol w="1368000"/>
              </a:tblGrid>
              <a:tr h="6624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8BDF8"/>
                          </a:solidFill>
                          <a:latin typeface="Arial"/>
                        </a:rPr>
                        <a:t>Dataset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8BDF8"/>
                          </a:solidFill>
                          <a:latin typeface="Arial"/>
                        </a:rPr>
                        <a:t>Engines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8BDF8"/>
                          </a:solidFill>
                          <a:latin typeface="Arial"/>
                        </a:rPr>
                        <a:t>Capped RMSE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8BDF8"/>
                          </a:solidFill>
                          <a:latin typeface="Arial"/>
                        </a:rPr>
                        <a:t>Capped MAE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38BDF8"/>
                          </a:solidFill>
                          <a:latin typeface="Arial"/>
                        </a:rPr>
                        <a:t>NASA 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62400"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F8FAFC"/>
                          </a:solidFill>
                          <a:latin typeface="Arial"/>
                        </a:rPr>
                        <a:t>FD001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F8FAFC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F8FAFC"/>
                          </a:solidFill>
                          <a:latin typeface="Arial"/>
                        </a:rPr>
                        <a:t>15.07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F8FAFC"/>
                          </a:solidFill>
                          <a:latin typeface="Arial"/>
                        </a:rPr>
                        <a:t>10.68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F8FAFC"/>
                          </a:solidFill>
                          <a:latin typeface="Arial"/>
                        </a:rPr>
                        <a:t>493.1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62400"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FD002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74.86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62.78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468759.9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62400"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FD003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47.85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39.00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22149.4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662400"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FD004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248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77.51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65.50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>
                          <a:solidFill>
                            <a:srgbClr val="CBD5E1"/>
                          </a:solidFill>
                          <a:latin typeface="Arial"/>
                        </a:rPr>
                        <a:t>509085.7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7512120" y="18864000"/>
            <a:ext cx="6360120" cy="9288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512120" y="18864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8. EXPLAINABILITY &amp; LEAD TIME</a:t>
            </a:r>
          </a:p>
        </p:txBody>
      </p:sp>
      <p:pic>
        <p:nvPicPr>
          <p:cNvPr id="31" name="Picture 30" descr="shap_by_area_poste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120" y="19800000"/>
            <a:ext cx="2820060" cy="3528000"/>
          </a:xfrm>
          <a:prstGeom prst="rect">
            <a:avLst/>
          </a:prstGeom>
        </p:spPr>
      </p:pic>
      <p:pic>
        <p:nvPicPr>
          <p:cNvPr id="32" name="Picture 31" descr="lead_time_distribution_poster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2180" y="19800000"/>
            <a:ext cx="2820060" cy="3528000"/>
          </a:xfrm>
          <a:prstGeom prst="rect">
            <a:avLst/>
          </a:prstGeom>
        </p:spPr>
      </p:pic>
      <p:pic>
        <p:nvPicPr>
          <p:cNvPr id="33" name="Picture 32" descr="shap_top10_poster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0120" y="23472000"/>
            <a:ext cx="5784120" cy="3528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728120" y="27144000"/>
            <a:ext cx="592812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1">
                <a:solidFill>
                  <a:srgbClr val="94A3B8"/>
                </a:solidFill>
                <a:latin typeface="Arial"/>
              </a:rPr>
              <a:t>Fig. 3. Subassembly TreeSHAP vs permutation attribution; lead-time delay distribution; top-10 sensor rankings.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04240" y="5040000"/>
            <a:ext cx="6360120" cy="6192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4304240" y="5040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9. DIGITAL TWIN DASHBOARD</a:t>
            </a:r>
          </a:p>
        </p:txBody>
      </p:sp>
      <p:pic>
        <p:nvPicPr>
          <p:cNvPr id="37" name="Picture 36" descr="dashboard_health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92240" y="5976000"/>
            <a:ext cx="2820060" cy="3960000"/>
          </a:xfrm>
          <a:prstGeom prst="rect">
            <a:avLst/>
          </a:prstGeom>
        </p:spPr>
      </p:pic>
      <p:pic>
        <p:nvPicPr>
          <p:cNvPr id="38" name="Picture 37" descr="dashboard_critic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484300" y="5976000"/>
            <a:ext cx="2820060" cy="396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4520240" y="10152000"/>
            <a:ext cx="592812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i="1">
                <a:solidFill>
                  <a:srgbClr val="94A3B8"/>
                </a:solidFill>
                <a:latin typeface="Arial"/>
              </a:rPr>
              <a:t>Fig. 4. Interactive aerodynamic telemetry pins showing healthy baseline (left) vs critical redline threshold drift (right).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4304240" y="11520000"/>
            <a:ext cx="6360120" cy="5328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4304240" y="11520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10. LIMITATIONS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520240" y="12384000"/>
            <a:ext cx="592812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500">
                <a:solidFill>
                  <a:srgbClr val="CBD5E1"/>
                </a:solidFill>
                <a:latin typeface="Arial"/>
              </a:rPr>
              <a:t>• Synthetic Benchmark: NPSS thermodynamic simulation; not carrier flight telemetry.</a:t>
            </a:r>
          </a:p>
          <a:p>
            <a:pPr>
              <a:spcAft>
                <a:spcPts val="400"/>
              </a:spcAft>
            </a:pPr>
            <a:r>
              <a:rPr sz="2500">
                <a:solidFill>
                  <a:srgbClr val="CBD5E1"/>
                </a:solidFill>
                <a:latin typeface="Arial"/>
              </a:rPr>
              <a:t>• Multi-Regime Collapse: Macro-F1 degrades on FD002/FD004 without operating condition clustering.</a:t>
            </a:r>
          </a:p>
          <a:p>
            <a:pPr>
              <a:spcAft>
                <a:spcPts val="400"/>
              </a:spcAft>
            </a:pPr>
            <a:r>
              <a:rPr sz="2500">
                <a:solidFill>
                  <a:srgbClr val="CBD5E1"/>
                </a:solidFill>
                <a:latin typeface="Arial"/>
              </a:rPr>
              <a:t>• Isolation Forest False Alarms: Unsupervised anomaly score yields high false alarm rates on non-stationary drift.</a:t>
            </a:r>
          </a:p>
          <a:p>
            <a:pPr>
              <a:spcAft>
                <a:spcPts val="400"/>
              </a:spcAft>
            </a:pPr>
            <a:r>
              <a:rPr sz="2500">
                <a:solidFill>
                  <a:srgbClr val="CBD5E1"/>
                </a:solidFill>
                <a:latin typeface="Arial"/>
              </a:rPr>
              <a:t>• Computational Latency: Sequence windowing incurs higher memory footprint than snapshot evaluation.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4304240" y="17136000"/>
            <a:ext cx="6360120" cy="3168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4304240" y="17136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11. FUTURE WORK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520240" y="18000000"/>
            <a:ext cx="592812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>
                <a:solidFill>
                  <a:srgbClr val="CBD5E1"/>
                </a:solidFill>
                <a:latin typeface="Arial"/>
              </a:rPr>
              <a:t>• Operating regime clustering (k-means flight condition partitioning) prior to sensor normalization.
• Physics-guided neural networks enforcing thermodynamic work balances.
• Attention-based temporal Transformers for multi-fault trajectory modeling.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04240" y="20592000"/>
            <a:ext cx="6360120" cy="63360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4304240" y="20592000"/>
            <a:ext cx="6360120" cy="792000"/>
          </a:xfrm>
          <a:prstGeom prst="roundRect">
            <a:avLst/>
          </a:prstGeom>
          <a:solidFill>
            <a:srgbClr val="1820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0" tIns="72000"/>
          <a:lstStyle/>
          <a:p>
            <a:pPr algn="ctr"/>
            <a:r>
              <a:rPr sz="4600" b="1">
                <a:solidFill>
                  <a:srgbClr val="38BDF8"/>
                </a:solidFill>
                <a:latin typeface="Arial"/>
              </a:rPr>
              <a:t>12. REFERENCES &amp; ARTIFACTS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520240" y="21456000"/>
            <a:ext cx="3480120" cy="525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200">
                <a:solidFill>
                  <a:srgbClr val="94A3B8"/>
                </a:solidFill>
                <a:latin typeface="Arial"/>
              </a:rPr>
              <a:t>[1] A. Saxena et al., PHM08, pp. 1–9, 2008.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4A3B8"/>
                </a:solidFill>
                <a:latin typeface="Arial"/>
              </a:rPr>
              <a:t>[2] S. Hochreiter &amp; J. Schmidhuber, Neural Comp., 1997.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4A3B8"/>
                </a:solidFill>
                <a:latin typeface="Arial"/>
              </a:rPr>
              <a:t>[3] F. T. Liu, K. M. Ting, Z.-H. Zhou, ICDM, 2008.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4A3B8"/>
                </a:solidFill>
                <a:latin typeface="Arial"/>
              </a:rPr>
              <a:t>[4] L. Breiman, Machine Learning, 2001.</a:t>
            </a:r>
          </a:p>
          <a:p>
            <a:pPr>
              <a:spcAft>
                <a:spcPts val="200"/>
              </a:spcAft>
            </a:pPr>
            <a:r>
              <a:rPr sz="2200">
                <a:solidFill>
                  <a:srgbClr val="94A3B8"/>
                </a:solidFill>
                <a:latin typeface="Arial"/>
              </a:rPr>
              <a:t>[5] S. M. Lundberg &amp; S.-I. Lee, NeurIPS, 2017.</a:t>
            </a:r>
          </a:p>
        </p:txBody>
      </p:sp>
      <p:pic>
        <p:nvPicPr>
          <p:cNvPr id="49" name="Picture 48" descr="github_q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928360" y="21528000"/>
            <a:ext cx="2448000" cy="24480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7784360" y="24048000"/>
            <a:ext cx="2736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8BDF8"/>
                </a:solidFill>
                <a:latin typeface="Arial"/>
              </a:rPr>
              <a:t>Scan for GitHub Code,
Data &amp; Benchmarks
(&gt;= 60 mm size)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